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lacial Indifference" panose="020B0604020202020204" charset="0"/>
      <p:regular r:id="rId12"/>
    </p:embeddedFont>
    <p:embeddedFont>
      <p:font typeface="Lora" pitchFamily="2" charset="0"/>
      <p:regular r:id="rId13"/>
    </p:embeddedFont>
    <p:embeddedFont>
      <p:font typeface="Manjari" panose="020B0604020202020204" charset="0"/>
      <p:regular r:id="rId14"/>
    </p:embeddedFont>
    <p:embeddedFont>
      <p:font typeface="Times New Roman MT" panose="020B0604020202020204" charset="0"/>
      <p:regular r:id="rId15"/>
    </p:embeddedFont>
    <p:embeddedFont>
      <p:font typeface="Times New Roman M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728" y="1737414"/>
            <a:ext cx="16230600" cy="265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>
                <a:solidFill>
                  <a:srgbClr val="27272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SMARTLOAN: LOAN APPROVAL PREDICTION USING MACHINE LEARNING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074396" y="5245028"/>
            <a:ext cx="7791261" cy="3247771"/>
            <a:chOff x="0" y="0"/>
            <a:chExt cx="2052019" cy="855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52020" cy="855380"/>
            </a:xfrm>
            <a:custGeom>
              <a:avLst/>
              <a:gdLst/>
              <a:ahLst/>
              <a:cxnLst/>
              <a:rect l="l" t="t" r="r" b="b"/>
              <a:pathLst>
                <a:path w="2052020" h="855380">
                  <a:moveTo>
                    <a:pt x="50677" y="0"/>
                  </a:moveTo>
                  <a:lnTo>
                    <a:pt x="2001343" y="0"/>
                  </a:lnTo>
                  <a:cubicBezTo>
                    <a:pt x="2029331" y="0"/>
                    <a:pt x="2052020" y="22689"/>
                    <a:pt x="2052020" y="50677"/>
                  </a:cubicBezTo>
                  <a:lnTo>
                    <a:pt x="2052020" y="804703"/>
                  </a:lnTo>
                  <a:cubicBezTo>
                    <a:pt x="2052020" y="832691"/>
                    <a:pt x="2029331" y="855380"/>
                    <a:pt x="2001343" y="855380"/>
                  </a:cubicBezTo>
                  <a:lnTo>
                    <a:pt x="50677" y="855380"/>
                  </a:lnTo>
                  <a:cubicBezTo>
                    <a:pt x="22689" y="855380"/>
                    <a:pt x="0" y="832691"/>
                    <a:pt x="0" y="804703"/>
                  </a:cubicBezTo>
                  <a:lnTo>
                    <a:pt x="0" y="50677"/>
                  </a:lnTo>
                  <a:cubicBezTo>
                    <a:pt x="0" y="22689"/>
                    <a:pt x="22689" y="0"/>
                    <a:pt x="50677" y="0"/>
                  </a:cubicBezTo>
                  <a:close/>
                </a:path>
              </a:pathLst>
            </a:custGeom>
            <a:ln w="2857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052019" cy="91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78980" y="5493873"/>
            <a:ext cx="6572321" cy="272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310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Team Members :</a:t>
            </a:r>
          </a:p>
          <a:p>
            <a:pPr algn="l">
              <a:lnSpc>
                <a:spcPts val="4345"/>
              </a:lnSpc>
            </a:pPr>
            <a:r>
              <a:rPr lang="en-US" sz="310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            Nithya Shree M</a:t>
            </a:r>
          </a:p>
          <a:p>
            <a:pPr algn="l">
              <a:lnSpc>
                <a:spcPts val="4345"/>
              </a:lnSpc>
            </a:pPr>
            <a:r>
              <a:rPr lang="en-US" sz="310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            Sridharshan S</a:t>
            </a:r>
          </a:p>
          <a:p>
            <a:pPr algn="l">
              <a:lnSpc>
                <a:spcPts val="4345"/>
              </a:lnSpc>
            </a:pPr>
            <a:r>
              <a:rPr lang="en-US" sz="310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Course: </a:t>
            </a:r>
          </a:p>
          <a:p>
            <a:pPr algn="l">
              <a:lnSpc>
                <a:spcPts val="4345"/>
              </a:lnSpc>
            </a:pPr>
            <a:r>
              <a:rPr lang="en-US" sz="310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            Data Science (21CSS303T)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3294" y="1071847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Abstract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05059" y="3013798"/>
            <a:ext cx="12992142" cy="5222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Loan approval decision-making is a critical task for financial institutions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This project uses machine learning to predict whether a loan will be approved or rejected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Applicant data, such as income, credit history, and loan amount, is analyzed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Data preprocessing and visualization are performed to understand patterns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A Logistic Regression model is built for classification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model achieved an accuracy of around 79%</a:t>
            </a:r>
          </a:p>
          <a:p>
            <a:pPr algn="l">
              <a:lnSpc>
                <a:spcPts val="4079"/>
              </a:lnSpc>
            </a:pPr>
            <a:r>
              <a:rPr lang="en-US" sz="2914" dirty="0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results show that credit history is a key factor in loan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3294" y="1071847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05059" y="2786877"/>
            <a:ext cx="12877882" cy="717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The objectives are:</a:t>
            </a: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marL="629157" lvl="1" indent="-314578" algn="just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To analyze loan applicant data to identify key factors influencing loan approval decisions.</a:t>
            </a: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marL="629157" lvl="1" indent="-314578" algn="just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To perform data preprocessing and visualization to ensure data quality and extract meaningful insights.</a:t>
            </a: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marL="629157" lvl="1" indent="-314578" algn="just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To build a machine learning model for prediction.</a:t>
            </a: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marL="629157" lvl="1" indent="-314578" algn="just">
              <a:lnSpc>
                <a:spcPts val="4079"/>
              </a:lnSpc>
              <a:buFont typeface="Arial"/>
              <a:buChar char="•"/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To predict loan approval status based on applicant characteristics and financial information.</a:t>
            </a: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079"/>
              </a:lnSpc>
            </a:pPr>
            <a:endParaRPr lang="en-US" sz="29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3294" y="1071847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Description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0009" y="3028926"/>
            <a:ext cx="12877882" cy="597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Dataset: Loan Prediction Dataset (Kaggle)</a:t>
            </a: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Number of records: ~614</a:t>
            </a:r>
          </a:p>
          <a:p>
            <a:pPr algn="just">
              <a:lnSpc>
                <a:spcPts val="4779"/>
              </a:lnSpc>
            </a:pPr>
            <a:endParaRPr lang="en-US" sz="34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Features include:</a:t>
            </a: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- Applicant Income</a:t>
            </a: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- Loan Amount</a:t>
            </a: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- Credit History</a:t>
            </a: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  - Education, Gender, etc.</a:t>
            </a:r>
          </a:p>
          <a:p>
            <a:pPr algn="just">
              <a:lnSpc>
                <a:spcPts val="4779"/>
              </a:lnSpc>
            </a:pPr>
            <a:endParaRPr lang="en-US" sz="3414">
              <a:solidFill>
                <a:srgbClr val="272727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Target variable: Loan_Status (Y/N)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3294" y="1071847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31546" y="3539360"/>
            <a:ext cx="12877882" cy="431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1. Data Collection</a:t>
            </a:r>
          </a:p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2. Data Preprocessing</a:t>
            </a:r>
          </a:p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3. Exploratory Data Analysis</a:t>
            </a:r>
          </a:p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4. Data Visualization</a:t>
            </a:r>
          </a:p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5. Model Building (Logistic Regression)</a:t>
            </a:r>
          </a:p>
          <a:p>
            <a:pPr algn="just">
              <a:lnSpc>
                <a:spcPts val="5759"/>
              </a:lnSpc>
            </a:pPr>
            <a:r>
              <a:rPr lang="en-US" sz="41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6.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4268" y="8505822"/>
            <a:ext cx="3431729" cy="661804"/>
            <a:chOff x="0" y="0"/>
            <a:chExt cx="903830" cy="1743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830" cy="174302"/>
            </a:xfrm>
            <a:custGeom>
              <a:avLst/>
              <a:gdLst/>
              <a:ahLst/>
              <a:cxnLst/>
              <a:rect l="l" t="t" r="r" b="b"/>
              <a:pathLst>
                <a:path w="903830" h="174302">
                  <a:moveTo>
                    <a:pt x="87151" y="0"/>
                  </a:moveTo>
                  <a:lnTo>
                    <a:pt x="816679" y="0"/>
                  </a:lnTo>
                  <a:cubicBezTo>
                    <a:pt x="839793" y="0"/>
                    <a:pt x="861960" y="9182"/>
                    <a:pt x="878304" y="25526"/>
                  </a:cubicBezTo>
                  <a:cubicBezTo>
                    <a:pt x="894648" y="41870"/>
                    <a:pt x="903830" y="64037"/>
                    <a:pt x="903830" y="87151"/>
                  </a:cubicBezTo>
                  <a:lnTo>
                    <a:pt x="903830" y="87151"/>
                  </a:lnTo>
                  <a:cubicBezTo>
                    <a:pt x="903830" y="135283"/>
                    <a:pt x="864811" y="174302"/>
                    <a:pt x="816679" y="174302"/>
                  </a:cubicBezTo>
                  <a:lnTo>
                    <a:pt x="87151" y="174302"/>
                  </a:lnTo>
                  <a:cubicBezTo>
                    <a:pt x="64037" y="174302"/>
                    <a:pt x="41870" y="165120"/>
                    <a:pt x="25526" y="148776"/>
                  </a:cubicBezTo>
                  <a:cubicBezTo>
                    <a:pt x="9182" y="132432"/>
                    <a:pt x="0" y="110265"/>
                    <a:pt x="0" y="87151"/>
                  </a:cubicBezTo>
                  <a:lnTo>
                    <a:pt x="0" y="87151"/>
                  </a:lnTo>
                  <a:cubicBezTo>
                    <a:pt x="0" y="64037"/>
                    <a:pt x="9182" y="41870"/>
                    <a:pt x="25526" y="25526"/>
                  </a:cubicBezTo>
                  <a:cubicBezTo>
                    <a:pt x="41870" y="9182"/>
                    <a:pt x="64037" y="0"/>
                    <a:pt x="87151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03830" cy="231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46273" y="2638709"/>
            <a:ext cx="7084117" cy="5644962"/>
          </a:xfrm>
          <a:custGeom>
            <a:avLst/>
            <a:gdLst/>
            <a:ahLst/>
            <a:cxnLst/>
            <a:rect l="l" t="t" r="r" b="b"/>
            <a:pathLst>
              <a:path w="7084117" h="5644962">
                <a:moveTo>
                  <a:pt x="0" y="0"/>
                </a:moveTo>
                <a:lnTo>
                  <a:pt x="7084117" y="0"/>
                </a:lnTo>
                <a:lnTo>
                  <a:pt x="7084117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117395" y="8505822"/>
            <a:ext cx="4294032" cy="976259"/>
            <a:chOff x="0" y="0"/>
            <a:chExt cx="1130938" cy="2571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0938" cy="257122"/>
            </a:xfrm>
            <a:custGeom>
              <a:avLst/>
              <a:gdLst/>
              <a:ahLst/>
              <a:cxnLst/>
              <a:rect l="l" t="t" r="r" b="b"/>
              <a:pathLst>
                <a:path w="1130938" h="257122">
                  <a:moveTo>
                    <a:pt x="91950" y="0"/>
                  </a:moveTo>
                  <a:lnTo>
                    <a:pt x="1038988" y="0"/>
                  </a:lnTo>
                  <a:cubicBezTo>
                    <a:pt x="1089771" y="0"/>
                    <a:pt x="1130938" y="41168"/>
                    <a:pt x="1130938" y="91950"/>
                  </a:cubicBezTo>
                  <a:lnTo>
                    <a:pt x="1130938" y="165171"/>
                  </a:lnTo>
                  <a:cubicBezTo>
                    <a:pt x="1130938" y="215954"/>
                    <a:pt x="1089771" y="257122"/>
                    <a:pt x="1038988" y="257122"/>
                  </a:cubicBezTo>
                  <a:lnTo>
                    <a:pt x="91950" y="257122"/>
                  </a:lnTo>
                  <a:cubicBezTo>
                    <a:pt x="67564" y="257122"/>
                    <a:pt x="44176" y="247434"/>
                    <a:pt x="26932" y="230190"/>
                  </a:cubicBezTo>
                  <a:cubicBezTo>
                    <a:pt x="9688" y="212946"/>
                    <a:pt x="0" y="189558"/>
                    <a:pt x="0" y="165171"/>
                  </a:cubicBezTo>
                  <a:lnTo>
                    <a:pt x="0" y="91950"/>
                  </a:lnTo>
                  <a:cubicBezTo>
                    <a:pt x="0" y="41168"/>
                    <a:pt x="41168" y="0"/>
                    <a:pt x="91950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30938" cy="314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57610" y="2638709"/>
            <a:ext cx="7084117" cy="5644962"/>
          </a:xfrm>
          <a:custGeom>
            <a:avLst/>
            <a:gdLst/>
            <a:ahLst/>
            <a:cxnLst/>
            <a:rect l="l" t="t" r="r" b="b"/>
            <a:pathLst>
              <a:path w="7084117" h="5644962">
                <a:moveTo>
                  <a:pt x="0" y="0"/>
                </a:moveTo>
                <a:lnTo>
                  <a:pt x="7084117" y="0"/>
                </a:lnTo>
                <a:lnTo>
                  <a:pt x="7084117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62781" y="602875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Visualization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94268" y="8673452"/>
            <a:ext cx="343172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272727"/>
                </a:solidFill>
                <a:latin typeface="Manjari"/>
                <a:ea typeface="Manjari"/>
                <a:cs typeface="Manjari"/>
                <a:sym typeface="Manjari"/>
              </a:rPr>
              <a:t>Loan Status Distribution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96370" y="8646782"/>
            <a:ext cx="4611722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272727"/>
                </a:solidFill>
                <a:latin typeface="Manjari"/>
                <a:ea typeface="Manjari"/>
                <a:cs typeface="Manjari"/>
                <a:sym typeface="Manjari"/>
              </a:rPr>
              <a:t>Credit History vs Loan Status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4268" y="8505822"/>
            <a:ext cx="3431729" cy="976259"/>
            <a:chOff x="0" y="0"/>
            <a:chExt cx="903830" cy="2571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830" cy="257122"/>
            </a:xfrm>
            <a:custGeom>
              <a:avLst/>
              <a:gdLst/>
              <a:ahLst/>
              <a:cxnLst/>
              <a:rect l="l" t="t" r="r" b="b"/>
              <a:pathLst>
                <a:path w="903830" h="257122">
                  <a:moveTo>
                    <a:pt x="115055" y="0"/>
                  </a:moveTo>
                  <a:lnTo>
                    <a:pt x="788775" y="0"/>
                  </a:lnTo>
                  <a:cubicBezTo>
                    <a:pt x="852318" y="0"/>
                    <a:pt x="903830" y="51512"/>
                    <a:pt x="903830" y="115055"/>
                  </a:cubicBezTo>
                  <a:lnTo>
                    <a:pt x="903830" y="142067"/>
                  </a:lnTo>
                  <a:cubicBezTo>
                    <a:pt x="903830" y="205610"/>
                    <a:pt x="852318" y="257122"/>
                    <a:pt x="788775" y="257122"/>
                  </a:cubicBezTo>
                  <a:lnTo>
                    <a:pt x="115055" y="257122"/>
                  </a:lnTo>
                  <a:cubicBezTo>
                    <a:pt x="51512" y="257122"/>
                    <a:pt x="0" y="205610"/>
                    <a:pt x="0" y="142067"/>
                  </a:cubicBezTo>
                  <a:lnTo>
                    <a:pt x="0" y="115055"/>
                  </a:lnTo>
                  <a:cubicBezTo>
                    <a:pt x="0" y="51512"/>
                    <a:pt x="51512" y="0"/>
                    <a:pt x="115055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03830" cy="314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7647" y="8505822"/>
            <a:ext cx="3098911" cy="752478"/>
            <a:chOff x="0" y="0"/>
            <a:chExt cx="816174" cy="1981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6174" cy="198183"/>
            </a:xfrm>
            <a:custGeom>
              <a:avLst/>
              <a:gdLst/>
              <a:ahLst/>
              <a:cxnLst/>
              <a:rect l="l" t="t" r="r" b="b"/>
              <a:pathLst>
                <a:path w="816174" h="198183">
                  <a:moveTo>
                    <a:pt x="99092" y="0"/>
                  </a:moveTo>
                  <a:lnTo>
                    <a:pt x="717082" y="0"/>
                  </a:lnTo>
                  <a:cubicBezTo>
                    <a:pt x="771809" y="0"/>
                    <a:pt x="816174" y="44365"/>
                    <a:pt x="816174" y="99092"/>
                  </a:cubicBezTo>
                  <a:lnTo>
                    <a:pt x="816174" y="99092"/>
                  </a:lnTo>
                  <a:cubicBezTo>
                    <a:pt x="816174" y="153819"/>
                    <a:pt x="771809" y="198183"/>
                    <a:pt x="717082" y="198183"/>
                  </a:cubicBezTo>
                  <a:lnTo>
                    <a:pt x="99092" y="198183"/>
                  </a:lnTo>
                  <a:cubicBezTo>
                    <a:pt x="44365" y="198183"/>
                    <a:pt x="0" y="153819"/>
                    <a:pt x="0" y="99092"/>
                  </a:cubicBezTo>
                  <a:lnTo>
                    <a:pt x="0" y="99092"/>
                  </a:lnTo>
                  <a:cubicBezTo>
                    <a:pt x="0" y="44365"/>
                    <a:pt x="44365" y="0"/>
                    <a:pt x="99092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6174" cy="255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6069" y="2488074"/>
            <a:ext cx="7084117" cy="5644962"/>
          </a:xfrm>
          <a:custGeom>
            <a:avLst/>
            <a:gdLst/>
            <a:ahLst/>
            <a:cxnLst/>
            <a:rect l="l" t="t" r="r" b="b"/>
            <a:pathLst>
              <a:path w="7084117" h="5644962">
                <a:moveTo>
                  <a:pt x="0" y="0"/>
                </a:moveTo>
                <a:lnTo>
                  <a:pt x="7084117" y="0"/>
                </a:lnTo>
                <a:lnTo>
                  <a:pt x="7084117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34154" y="2164495"/>
            <a:ext cx="8024255" cy="5958009"/>
          </a:xfrm>
          <a:custGeom>
            <a:avLst/>
            <a:gdLst/>
            <a:ahLst/>
            <a:cxnLst/>
            <a:rect l="l" t="t" r="r" b="b"/>
            <a:pathLst>
              <a:path w="8024255" h="5958009">
                <a:moveTo>
                  <a:pt x="0" y="0"/>
                </a:moveTo>
                <a:lnTo>
                  <a:pt x="8024255" y="0"/>
                </a:lnTo>
                <a:lnTo>
                  <a:pt x="8024255" y="5958010"/>
                </a:lnTo>
                <a:lnTo>
                  <a:pt x="0" y="5958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62781" y="602875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Visualization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94268" y="8673452"/>
            <a:ext cx="343172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272727"/>
                </a:solidFill>
                <a:latin typeface="Manjari"/>
                <a:ea typeface="Manjari"/>
                <a:cs typeface="Manjari"/>
                <a:sym typeface="Manjari"/>
              </a:rPr>
              <a:t>Property Area vs Loan Status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96370" y="8646782"/>
            <a:ext cx="461172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272727"/>
                </a:solidFill>
                <a:latin typeface="Manjari"/>
                <a:ea typeface="Manjari"/>
                <a:cs typeface="Manjari"/>
                <a:sym typeface="Manjari"/>
              </a:rPr>
              <a:t>Correlation Heatmap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1900" y="1834632"/>
            <a:ext cx="3958246" cy="528814"/>
            <a:chOff x="0" y="0"/>
            <a:chExt cx="855507" cy="114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5507" cy="114294"/>
            </a:xfrm>
            <a:custGeom>
              <a:avLst/>
              <a:gdLst/>
              <a:ahLst/>
              <a:cxnLst/>
              <a:rect l="l" t="t" r="r" b="b"/>
              <a:pathLst>
                <a:path w="855507" h="114294">
                  <a:moveTo>
                    <a:pt x="57147" y="0"/>
                  </a:moveTo>
                  <a:lnTo>
                    <a:pt x="798360" y="0"/>
                  </a:lnTo>
                  <a:cubicBezTo>
                    <a:pt x="829921" y="0"/>
                    <a:pt x="855507" y="25586"/>
                    <a:pt x="855507" y="57147"/>
                  </a:cubicBezTo>
                  <a:lnTo>
                    <a:pt x="855507" y="57147"/>
                  </a:lnTo>
                  <a:cubicBezTo>
                    <a:pt x="855507" y="72303"/>
                    <a:pt x="849486" y="86839"/>
                    <a:pt x="838769" y="97556"/>
                  </a:cubicBezTo>
                  <a:cubicBezTo>
                    <a:pt x="828052" y="108273"/>
                    <a:pt x="813516" y="114294"/>
                    <a:pt x="798360" y="114294"/>
                  </a:cubicBezTo>
                  <a:lnTo>
                    <a:pt x="57147" y="114294"/>
                  </a:lnTo>
                  <a:cubicBezTo>
                    <a:pt x="25586" y="114294"/>
                    <a:pt x="0" y="88708"/>
                    <a:pt x="0" y="57147"/>
                  </a:cubicBezTo>
                  <a:lnTo>
                    <a:pt x="0" y="57147"/>
                  </a:lnTo>
                  <a:cubicBezTo>
                    <a:pt x="0" y="25586"/>
                    <a:pt x="25586" y="0"/>
                    <a:pt x="57147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55507" cy="171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7350" y="1829752"/>
            <a:ext cx="3044769" cy="611992"/>
            <a:chOff x="0" y="0"/>
            <a:chExt cx="568633" cy="1142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633" cy="114294"/>
            </a:xfrm>
            <a:custGeom>
              <a:avLst/>
              <a:gdLst/>
              <a:ahLst/>
              <a:cxnLst/>
              <a:rect l="l" t="t" r="r" b="b"/>
              <a:pathLst>
                <a:path w="568633" h="114294">
                  <a:moveTo>
                    <a:pt x="57147" y="0"/>
                  </a:moveTo>
                  <a:lnTo>
                    <a:pt x="511486" y="0"/>
                  </a:lnTo>
                  <a:cubicBezTo>
                    <a:pt x="526642" y="0"/>
                    <a:pt x="541178" y="6021"/>
                    <a:pt x="551895" y="16738"/>
                  </a:cubicBezTo>
                  <a:cubicBezTo>
                    <a:pt x="562612" y="27455"/>
                    <a:pt x="568633" y="41991"/>
                    <a:pt x="568633" y="57147"/>
                  </a:cubicBezTo>
                  <a:lnTo>
                    <a:pt x="568633" y="57147"/>
                  </a:lnTo>
                  <a:cubicBezTo>
                    <a:pt x="568633" y="88708"/>
                    <a:pt x="543048" y="114294"/>
                    <a:pt x="511486" y="114294"/>
                  </a:cubicBezTo>
                  <a:lnTo>
                    <a:pt x="57147" y="114294"/>
                  </a:lnTo>
                  <a:cubicBezTo>
                    <a:pt x="25586" y="114294"/>
                    <a:pt x="0" y="88708"/>
                    <a:pt x="0" y="57147"/>
                  </a:cubicBezTo>
                  <a:lnTo>
                    <a:pt x="0" y="57147"/>
                  </a:lnTo>
                  <a:cubicBezTo>
                    <a:pt x="0" y="25586"/>
                    <a:pt x="25586" y="0"/>
                    <a:pt x="57147" y="0"/>
                  </a:cubicBezTo>
                  <a:close/>
                </a:path>
              </a:pathLst>
            </a:custGeom>
            <a:ln w="9525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68633" cy="171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876800" y="6362700"/>
            <a:ext cx="8900094" cy="3223831"/>
          </a:xfrm>
          <a:custGeom>
            <a:avLst/>
            <a:gdLst/>
            <a:ahLst/>
            <a:cxnLst/>
            <a:rect l="l" t="t" r="r" b="b"/>
            <a:pathLst>
              <a:path w="7140177" h="2798425">
                <a:moveTo>
                  <a:pt x="0" y="0"/>
                </a:moveTo>
                <a:lnTo>
                  <a:pt x="7140177" y="0"/>
                </a:lnTo>
                <a:lnTo>
                  <a:pt x="7140177" y="2798425"/>
                </a:lnTo>
                <a:lnTo>
                  <a:pt x="0" y="279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341" t="-77005" r="-37925" b="-3838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013" y="2959531"/>
            <a:ext cx="7436987" cy="3223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17"/>
              </a:lnSpc>
            </a:pPr>
            <a:r>
              <a:rPr lang="en-US" sz="3655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Algorithm used: Logistic Regression</a:t>
            </a:r>
          </a:p>
          <a:p>
            <a:pPr algn="l">
              <a:lnSpc>
                <a:spcPts val="5117"/>
              </a:lnSpc>
            </a:pPr>
            <a:r>
              <a:rPr lang="en-US" sz="3655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Data split: 80% training, 20% testing</a:t>
            </a:r>
          </a:p>
          <a:p>
            <a:pPr algn="l">
              <a:lnSpc>
                <a:spcPts val="5117"/>
              </a:lnSpc>
            </a:pPr>
            <a:r>
              <a:rPr lang="en-US" sz="3655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-Feature scaling applied using </a:t>
            </a:r>
            <a:r>
              <a:rPr lang="en-US" sz="3655" dirty="0" err="1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StandardScaler</a:t>
            </a:r>
            <a:endParaRPr lang="en-US" sz="3655" dirty="0">
              <a:solidFill>
                <a:srgbClr val="272727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110145" y="1795438"/>
            <a:ext cx="3293930" cy="530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 b="1" dirty="0">
                <a:solidFill>
                  <a:srgbClr val="272727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 Model Building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849" y="3086100"/>
            <a:ext cx="9229433" cy="222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2"/>
              </a:lnSpc>
            </a:pPr>
            <a:r>
              <a:rPr lang="en-US" sz="4230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</a:t>
            </a:r>
            <a:r>
              <a:rPr lang="en-US" sz="3660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Accuracy: ~79%</a:t>
            </a:r>
          </a:p>
          <a:p>
            <a:pPr algn="l">
              <a:lnSpc>
                <a:spcPts val="5922"/>
              </a:lnSpc>
            </a:pPr>
            <a:r>
              <a:rPr lang="en-US" sz="3660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Confusion Matrix used for evaluation</a:t>
            </a:r>
          </a:p>
          <a:p>
            <a:pPr algn="l">
              <a:lnSpc>
                <a:spcPts val="5922"/>
              </a:lnSpc>
            </a:pPr>
            <a:r>
              <a:rPr lang="en-US" sz="3660" dirty="0">
                <a:solidFill>
                  <a:srgbClr val="27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Classification Report analyzed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8830" y="1808712"/>
            <a:ext cx="1961807" cy="62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4"/>
              </a:lnSpc>
            </a:pPr>
            <a:r>
              <a:rPr lang="en-US" sz="3753" b="1" dirty="0">
                <a:solidFill>
                  <a:srgbClr val="272727"/>
                </a:solidFill>
                <a:latin typeface="Times New Roman" panose="02020603050405020304" pitchFamily="18" charset="0"/>
                <a:ea typeface="Questrial"/>
                <a:cs typeface="Times New Roman" panose="02020603050405020304" pitchFamily="18" charset="0"/>
                <a:sym typeface="Questrial"/>
              </a:rP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4062" y="1329025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52706" y="3488373"/>
            <a:ext cx="14380309" cy="387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Credit history is the most important factor influencing loan approval decisions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Applicants with a positive credit history are more likely to get approval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Higher applicant income generally increases the chances of loan approval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dataset is imbalanced, with more approved loans than rejected ones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model performs better for approved loans compared to rejected loans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Some features like gender and education have less impact on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3294" y="1071847"/>
            <a:ext cx="8634999" cy="15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7956" b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44112" y="2892773"/>
            <a:ext cx="12877882" cy="5126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machine learning model successfully predicts loan approval with good accuracy (~79%)</a:t>
            </a:r>
          </a:p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Data preprocessing and feature selection played a key role in improving performance</a:t>
            </a:r>
          </a:p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The model helps automate loan decision-making, reducing manual effort</a:t>
            </a:r>
          </a:p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It enables faster, consistent, and data-driven loan approval processes</a:t>
            </a:r>
          </a:p>
          <a:p>
            <a:pPr algn="just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Limitation: lower performance in predicting rejected loans due to class imbalance</a:t>
            </a:r>
          </a:p>
          <a:p>
            <a:pPr algn="l">
              <a:lnSpc>
                <a:spcPts val="4079"/>
              </a:lnSpc>
            </a:pPr>
            <a:r>
              <a:rPr lang="en-US" sz="2914">
                <a:solidFill>
                  <a:srgbClr val="272727"/>
                </a:solidFill>
                <a:latin typeface="Lora"/>
                <a:ea typeface="Lora"/>
                <a:cs typeface="Lora"/>
                <a:sym typeface="Lora"/>
              </a:rPr>
              <a:t>- Future work can include balancing the dataset and using advanced models for better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471</Words>
  <Application>Microsoft Office PowerPoint</Application>
  <PresentationFormat>Custom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Lora</vt:lpstr>
      <vt:lpstr>Glacial Indifference</vt:lpstr>
      <vt:lpstr>Times New Roman</vt:lpstr>
      <vt:lpstr>Manjari</vt:lpstr>
      <vt:lpstr>Calibri</vt:lpstr>
      <vt:lpstr>Times New Roman MT</vt:lpstr>
      <vt:lpstr>Arial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SmartLoan: Loan Approval Prediction Using Machine Learning</dc:title>
  <dc:creator>Nithya Sree</dc:creator>
  <cp:lastModifiedBy>Nithya Sree</cp:lastModifiedBy>
  <cp:revision>3</cp:revision>
  <dcterms:created xsi:type="dcterms:W3CDTF">2006-08-16T00:00:00Z</dcterms:created>
  <dcterms:modified xsi:type="dcterms:W3CDTF">2026-04-14T11:49:10Z</dcterms:modified>
  <dc:identifier>DAHG0xJzBOk</dc:identifier>
</cp:coreProperties>
</file>